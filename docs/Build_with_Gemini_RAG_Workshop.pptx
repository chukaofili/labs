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9B72F2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822960"/>
            <a:ext cx="2194560" cy="2194560"/>
          </a:xfrm>
          <a:prstGeom prst="ellipse">
            <a:avLst/>
          </a:prstGeom>
          <a:solidFill>
            <a:srgbClr val="4285F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0" y="1371600"/>
            <a:ext cx="1371600" cy="1371600"/>
          </a:xfrm>
          <a:prstGeom prst="ellipse">
            <a:avLst/>
          </a:prstGeom>
          <a:solidFill>
            <a:srgbClr val="9B72F2">
              <a:alpha val="5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160020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WORKSHOP · NO CODE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828800"/>
            <a:ext cx="8503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“Chat With Your Docs” Assistant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731520" y="3383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Gemini and Google’s generative language models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GFSAA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60 min   ·   Built live in Google AI Studio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with a “generic” AI chatbot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954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D9544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94767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“What’s our refund window for annual plans?”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63040" y="2468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“Our refund policy is 30 days...”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971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Confident. Specific. Completely made up.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64592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E8E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874520"/>
            <a:ext cx="502920" cy="502920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194767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“What’s our refund window for annual plans?”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223760" y="2468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“14 days, per our Pricing doc.”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37960" y="2971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Grounded in YOUR documents. Cites the source.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402336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1C1B3A"/>
          </a:solidFill>
          <a:ln/>
        </p:spPr>
      </p:sp>
      <p:sp>
        <p:nvSpPr>
          <p:cNvPr id="16" name="Text 12"/>
          <p:cNvSpPr/>
          <p:nvPr/>
        </p:nvSpPr>
        <p:spPr>
          <a:xfrm>
            <a:off x="914400" y="43434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 we close that gap with RAG — and we do it with zero code.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model is brilliant but has never seen your pricing, your FAQ, or your policies. By the end of this session you’ll have fixed that for your own startup.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Gemini · GFSAA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Gemini landscape, mid-2026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 you’ll pick from — fast, multimodal, and built to be grounded.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777240" cy="777240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185416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3.1 Pro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36118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reasoning + agentic &amp; coding power. Reach for it on complex questions.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10712" y="173736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85032" y="2011680"/>
            <a:ext cx="777240" cy="777240"/>
          </a:xfrm>
          <a:prstGeom prst="ellipse">
            <a:avLst/>
          </a:prstGeom>
          <a:solidFill>
            <a:srgbClr val="9B72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768" y="2185416"/>
            <a:ext cx="429768" cy="4297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3.5 Flash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639312" y="36118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cheap. The default for high-volume chat and support bots.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72784" y="173736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47104" y="2011680"/>
            <a:ext cx="777240" cy="777240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85416"/>
            <a:ext cx="429768" cy="4297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Grounding + File Search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501384" y="36118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answers to live Google Search or your own private documents.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134856" y="173736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409176" y="2011680"/>
            <a:ext cx="777240" cy="777240"/>
          </a:xfrm>
          <a:prstGeom prst="ellipse">
            <a:avLst/>
          </a:prstGeom>
          <a:solidFill>
            <a:srgbClr val="1C1B3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2" y="2185416"/>
            <a:ext cx="429768" cy="4297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63456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Multimodal in/out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363456" y="36118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text, images, PDFs. Plus Nano Banana images, Veo video, Lyria audio.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DEBFB"/>
          </a:solidFill>
          <a:ln/>
        </p:spPr>
      </p:sp>
      <p:sp>
        <p:nvSpPr>
          <p:cNvPr id="25" name="Text 19"/>
          <p:cNvSpPr/>
          <p:nvPr/>
        </p:nvSpPr>
        <p:spPr>
          <a:xfrm>
            <a:off x="914400" y="53949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takeaway:  </a:t>
            </a:r>
            <a:pPr indent="0" marL="0">
              <a:buNone/>
            </a:pPr>
            <a:r>
              <a:rPr lang="en-US" sz="1500" dirty="0">
                <a:solidFill>
                  <a:srgbClr val="1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don’t need to fine-tune a model. You point a great model at your data — that’s where the leverage is.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Gemini · GFSAA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RAG?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— in one line: find the right pieces of YOUR content, then let Gemini answer from them.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2A2856"/>
          </a:solidFill>
          <a:ln/>
        </p:spPr>
      </p:sp>
      <p:sp>
        <p:nvSpPr>
          <p:cNvPr id="5" name="Shape 3"/>
          <p:cNvSpPr/>
          <p:nvPr/>
        </p:nvSpPr>
        <p:spPr>
          <a:xfrm>
            <a:off x="1440180" y="2468880"/>
            <a:ext cx="914400" cy="914400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267919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docs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FAQ, policies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256" y="3154680"/>
            <a:ext cx="347472" cy="34747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66160" y="21945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2A2856"/>
          </a:solidFill>
          <a:ln/>
        </p:spPr>
      </p:sp>
      <p:sp>
        <p:nvSpPr>
          <p:cNvPr id="11" name="Shape 7"/>
          <p:cNvSpPr/>
          <p:nvPr/>
        </p:nvSpPr>
        <p:spPr>
          <a:xfrm>
            <a:off x="4366260" y="2468880"/>
            <a:ext cx="914400" cy="914400"/>
          </a:xfrm>
          <a:prstGeom prst="ellipse">
            <a:avLst/>
          </a:prstGeom>
          <a:solidFill>
            <a:srgbClr val="9B72F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572" y="2679192"/>
            <a:ext cx="493776" cy="4937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0332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Indexed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3703320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+ embedded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36" y="3154680"/>
            <a:ext cx="347472" cy="34747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92240" y="21945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2A2856"/>
          </a:solidFill>
          <a:ln/>
        </p:spPr>
      </p:sp>
      <p:sp>
        <p:nvSpPr>
          <p:cNvPr id="17" name="Shape 11"/>
          <p:cNvSpPr/>
          <p:nvPr/>
        </p:nvSpPr>
        <p:spPr>
          <a:xfrm>
            <a:off x="7292340" y="2468880"/>
            <a:ext cx="914400" cy="914400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2652" y="2679192"/>
            <a:ext cx="493776" cy="49377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62940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asks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6629400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“Refund window?”</a:t>
            </a:r>
            <a:endParaRPr lang="en-US" sz="13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3416" y="3154680"/>
            <a:ext cx="347472" cy="34747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418320" y="21945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2A2856"/>
          </a:solidFill>
          <a:ln/>
        </p:spPr>
      </p:sp>
      <p:sp>
        <p:nvSpPr>
          <p:cNvPr id="23" name="Shape 15"/>
          <p:cNvSpPr/>
          <p:nvPr/>
        </p:nvSpPr>
        <p:spPr>
          <a:xfrm>
            <a:off x="10218420" y="2468880"/>
            <a:ext cx="914400" cy="914400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8732" y="2679192"/>
            <a:ext cx="493776" cy="49377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55548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Grounded answer</a:t>
            </a:r>
            <a:endParaRPr lang="en-US" sz="1700" dirty="0"/>
          </a:p>
        </p:txBody>
      </p:sp>
      <p:sp>
        <p:nvSpPr>
          <p:cNvPr id="26" name="Text 17"/>
          <p:cNvSpPr/>
          <p:nvPr/>
        </p:nvSpPr>
        <p:spPr>
          <a:xfrm>
            <a:off x="9555480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content, cited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40080" y="5029200"/>
            <a:ext cx="10881360" cy="1097280"/>
          </a:xfrm>
          <a:prstGeom prst="roundRect">
            <a:avLst/>
          </a:prstGeom>
          <a:solidFill>
            <a:srgbClr val="9B72F2"/>
          </a:solidFill>
          <a:ln/>
        </p:spPr>
      </p:sp>
      <p:sp>
        <p:nvSpPr>
          <p:cNvPr id="28" name="Text 19"/>
          <p:cNvSpPr/>
          <p:nvPr/>
        </p:nvSpPr>
        <p:spPr>
          <a:xfrm>
            <a:off x="1005840" y="52578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model. Same question. The only thing that changed is what it can see.</a:t>
            </a:r>
            <a:endParaRPr lang="en-US" sz="1900" dirty="0"/>
          </a:p>
        </p:txBody>
      </p:sp>
      <p:sp>
        <p:nvSpPr>
          <p:cNvPr id="29" name="Text 20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Gemini · GFSAA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you’ll build in the next 45 minutes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72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You’ll walk out with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2468880"/>
            <a:ext cx="384048" cy="38404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53288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4231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assistant that answers only from your documents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" y="3337560"/>
            <a:ext cx="384048" cy="38404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40156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291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politely says “I don’t know” instead of inventing answers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68680" y="4206240"/>
            <a:ext cx="384048" cy="38404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270248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1605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live web facts via Google Search grounding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868680" y="5074920"/>
            <a:ext cx="384048" cy="38404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5138928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50292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shareable app + the exact path to put this in your product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6766560" y="1554480"/>
            <a:ext cx="4846320" cy="4480560"/>
          </a:xfrm>
          <a:prstGeom prst="roundRect">
            <a:avLst>
              <a:gd name="adj" fmla="val 2041"/>
            </a:avLst>
          </a:prstGeom>
          <a:solidFill>
            <a:srgbClr val="1C1B3A"/>
          </a:solidFill>
          <a:ln/>
        </p:spPr>
      </p:sp>
      <p:sp>
        <p:nvSpPr>
          <p:cNvPr id="18" name="Text 12"/>
          <p:cNvSpPr/>
          <p:nvPr/>
        </p:nvSpPr>
        <p:spPr>
          <a:xfrm>
            <a:off x="7086600" y="1828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72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need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7086600" y="2468880"/>
            <a:ext cx="384048" cy="384048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2532888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635240" y="24231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Google account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7086600" y="3337560"/>
            <a:ext cx="384048" cy="384048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3401568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635240" y="32918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laptop + browser (no install)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7086600" y="4206240"/>
            <a:ext cx="384048" cy="384048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0608" y="4270248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635240" y="41605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docs about your startup</a:t>
            </a:r>
            <a:endParaRPr lang="en-US" sz="1500" dirty="0"/>
          </a:p>
        </p:txBody>
      </p:sp>
      <p:sp>
        <p:nvSpPr>
          <p:cNvPr id="28" name="Shape 19"/>
          <p:cNvSpPr/>
          <p:nvPr/>
        </p:nvSpPr>
        <p:spPr>
          <a:xfrm>
            <a:off x="7086600" y="5074920"/>
            <a:ext cx="384048" cy="384048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0608" y="5138928"/>
            <a:ext cx="256032" cy="25603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635240" y="5029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card. No code.</a:t>
            </a:r>
            <a:endParaRPr lang="en-US" sz="1500" dirty="0"/>
          </a:p>
        </p:txBody>
      </p:sp>
      <p:sp>
        <p:nvSpPr>
          <p:cNvPr id="31" name="Text 21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2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Gemini · GFSAA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live build — 6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on your own laptop at aistudio.google.com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777240" cy="77724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78308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AI Studio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83080" y="2560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in. Free, in-browser.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103120"/>
            <a:ext cx="777240" cy="777240"/>
          </a:xfrm>
          <a:prstGeom prst="ellipse">
            <a:avLst/>
          </a:prstGeom>
          <a:solidFill>
            <a:srgbClr val="9B72F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3212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Feel the problem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532120" y="2560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company question — watch it guess.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103120"/>
            <a:ext cx="777240" cy="77724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28116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behaviour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281160" y="2560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instruction: answer only from docs.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206240"/>
            <a:ext cx="777240" cy="777240"/>
          </a:xfrm>
          <a:prstGeom prst="ellipse">
            <a:avLst/>
          </a:prstGeom>
          <a:solidFill>
            <a:srgbClr val="9B72F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06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78308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your docs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783080" y="4663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1–3 files with the + button.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0" y="388620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206240"/>
            <a:ext cx="777240" cy="77724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206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53212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again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532120" y="4663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grounded, correct, and cited.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46720" y="388620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4206240"/>
            <a:ext cx="777240" cy="777240"/>
          </a:xfrm>
          <a:prstGeom prst="ellipse">
            <a:avLst/>
          </a:prstGeom>
          <a:solidFill>
            <a:srgbClr val="9B72F2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4206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928116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it real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281160" y="4663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mode app + Get API key for prod.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Gemini · GFSAA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one instruction that keeps your bot honest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this into the System Instructions field — then upload your docs.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3108960"/>
          </a:xfrm>
          <a:prstGeom prst="roundRect">
            <a:avLst>
              <a:gd name="adj" fmla="val 2353"/>
            </a:avLst>
          </a:prstGeom>
          <a:solidFill>
            <a:srgbClr val="11102A"/>
          </a:solidFill>
          <a:ln w="19050">
            <a:solidFill>
              <a:srgbClr val="9B7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10332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the support assistant for [Your Startup].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ONLY using the information in the provided documents.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the answer is not in the documents, say: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“I don’t have that in our docs yet — I’ll flag it for the team.”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 concise and friendly. Never invent prices, dates, or policies.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possible, mention which document the answer came from.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11064240" cy="960120"/>
          </a:xfrm>
          <a:prstGeom prst="roundRect">
            <a:avLst/>
          </a:prstGeom>
          <a:solidFill>
            <a:srgbClr val="9B72F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28523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“I don’t know” is a feature, not a bug. For a customer-facing bot, trust beats coverage.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Gemini · GFSAA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prototype to product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build by hand today maps 1:1 to the API call your engineer ships.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868680" cy="868680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350008"/>
            <a:ext cx="466344" cy="4663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Prototype in AI Studio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4023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prompt, upload docs, test answers — no code.</a:t>
            </a:r>
            <a:endParaRPr lang="en-US" sz="13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3154680"/>
            <a:ext cx="329184" cy="3291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297680" y="182880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17720" y="2148840"/>
            <a:ext cx="868680" cy="868680"/>
          </a:xfrm>
          <a:prstGeom prst="ellipse">
            <a:avLst/>
          </a:prstGeom>
          <a:solidFill>
            <a:srgbClr val="9B72F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2350008"/>
            <a:ext cx="466344" cy="4663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1772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61772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mode app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617720" y="4023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assistant; AI Studio scaffolds a shareable app.</a:t>
            </a:r>
            <a:endParaRPr lang="en-US" sz="13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3154680"/>
            <a:ext cx="329184" cy="32918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046720" y="182880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366760" y="2148840"/>
            <a:ext cx="868680" cy="868680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7928" y="2350008"/>
            <a:ext cx="466344" cy="4663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36676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836676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API key + code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8366760" y="4023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same File Search + grounding into your product.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548640" y="5120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EDEBFB"/>
          </a:solidFill>
          <a:ln/>
        </p:spPr>
      </p:sp>
      <p:sp>
        <p:nvSpPr>
          <p:cNvPr id="25" name="Text 18"/>
          <p:cNvSpPr/>
          <p:nvPr/>
        </p:nvSpPr>
        <p:spPr>
          <a:xfrm>
            <a:off x="914400" y="528523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RAG:  </a:t>
            </a:r>
            <a:pPr indent="0" marL="0">
              <a:buNone/>
            </a:pPr>
            <a:r>
              <a:rPr lang="en-US" sz="1500" dirty="0">
                <a:solidFill>
                  <a:srgbClr val="1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Search chunks, embeds, stores, and retrieves for you — no vector database to run.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Gemini · GFSAA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founders ship this first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194560"/>
            <a:ext cx="914400" cy="914400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40487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291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support bot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39319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from your help center. Deflects tickets, 24/7, in any language.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97680" y="182880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17720" y="2194560"/>
            <a:ext cx="914400" cy="914400"/>
          </a:xfrm>
          <a:prstGeom prst="ellipse">
            <a:avLst/>
          </a:prstGeom>
          <a:solidFill>
            <a:srgbClr val="9B72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404872"/>
            <a:ext cx="493776" cy="4937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3291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“ask-me-anything”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617720" y="39319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 query your policies, runbooks, and SOPs instead of pinging the team.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46720" y="182880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66760" y="2194560"/>
            <a:ext cx="914400" cy="914400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2404872"/>
            <a:ext cx="493776" cy="4937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6760" y="3291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Customer-facing assistant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366760" y="39319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docs guide embedded in your app — grounded, never off-brand.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one closest to your business — that’s your hands-on doc for the next exercise.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Gemini · GFSAA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9B72F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building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grounded RAG with zero code. Here’s where to go next.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2A2856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642616"/>
            <a:ext cx="402336" cy="402336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724912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46888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   </a:t>
            </a:r>
            <a:pPr indent="0" marL="0">
              <a:buNone/>
            </a:pPr>
            <a:r>
              <a:rPr lang="en-US" sz="1500" dirty="0">
                <a:solidFill>
                  <a:srgbClr val="8A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aistudio.google.com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20" y="3337560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2A2856"/>
          </a:solidFill>
          <a:ln/>
        </p:spPr>
      </p:sp>
      <p:sp>
        <p:nvSpPr>
          <p:cNvPr id="11" name="Shape 8"/>
          <p:cNvSpPr/>
          <p:nvPr/>
        </p:nvSpPr>
        <p:spPr>
          <a:xfrm>
            <a:off x="960120" y="3511296"/>
            <a:ext cx="402336" cy="402336"/>
          </a:xfrm>
          <a:prstGeom prst="ellipse">
            <a:avLst/>
          </a:prstGeom>
          <a:solidFill>
            <a:srgbClr val="9B72F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3593592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333756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docs   </a:t>
            </a:r>
            <a:pPr indent="0" marL="0">
              <a:buNone/>
            </a:pPr>
            <a:r>
              <a:rPr lang="en-US" sz="1500" dirty="0">
                <a:solidFill>
                  <a:srgbClr val="8A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ai.google.dev/gemini-api/docs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31520" y="4206240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2A2856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" y="4379976"/>
            <a:ext cx="402336" cy="402336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462272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20624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Search (managed RAG)   </a:t>
            </a:r>
            <a:pPr indent="0" marL="0">
              <a:buNone/>
            </a:pPr>
            <a:r>
              <a:rPr lang="en-US" sz="1500" dirty="0">
                <a:solidFill>
                  <a:srgbClr val="8A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ai.google.dev/gemini-api/docs/file-search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731520" y="5074920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2A2856"/>
          </a:solidFill>
          <a:ln/>
        </p:spPr>
      </p:sp>
      <p:sp>
        <p:nvSpPr>
          <p:cNvPr id="19" name="Shape 14"/>
          <p:cNvSpPr/>
          <p:nvPr/>
        </p:nvSpPr>
        <p:spPr>
          <a:xfrm>
            <a:off x="960120" y="5248656"/>
            <a:ext cx="402336" cy="402336"/>
          </a:xfrm>
          <a:prstGeom prst="ellipse">
            <a:avLst/>
          </a:prstGeom>
          <a:solidFill>
            <a:srgbClr val="9B72F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5330952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507492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workshop’s codelab   </a:t>
            </a:r>
            <a:pPr indent="0" marL="0">
              <a:buNone/>
            </a:pPr>
            <a:r>
              <a:rPr lang="en-US" sz="1500" dirty="0">
                <a:solidFill>
                  <a:srgbClr val="8A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me for the link / QR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8046720" y="2468880"/>
            <a:ext cx="3383280" cy="3383280"/>
          </a:xfrm>
          <a:prstGeom prst="roundRect">
            <a:avLst>
              <a:gd name="adj" fmla="val 3243"/>
            </a:avLst>
          </a:prstGeom>
          <a:solidFill>
            <a:srgbClr val="9B72F2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2834640"/>
            <a:ext cx="731520" cy="7315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229600" y="3657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2600" dirty="0"/>
          </a:p>
        </p:txBody>
      </p:sp>
      <p:sp>
        <p:nvSpPr>
          <p:cNvPr id="25" name="Text 18"/>
          <p:cNvSpPr/>
          <p:nvPr/>
        </p:nvSpPr>
        <p:spPr>
          <a:xfrm>
            <a:off x="8229600" y="42976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build something grounded.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with Gemini — RAG Chatbot Workshop</dc:title>
  <dc:subject>PptxGenJS Presentation</dc:subject>
  <dc:creator>Chuka Ofili</dc:creator>
  <cp:lastModifiedBy>Chuka Ofili</cp:lastModifiedBy>
  <cp:revision>1</cp:revision>
  <dcterms:created xsi:type="dcterms:W3CDTF">2026-06-13T08:11:52Z</dcterms:created>
  <dcterms:modified xsi:type="dcterms:W3CDTF">2026-06-13T08:11:52Z</dcterms:modified>
</cp:coreProperties>
</file>